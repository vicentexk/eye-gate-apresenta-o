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Retomando o eye gate: mostramos o que evoluiu desde a última apresentação até a entrega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Onde paramos: gestão sem supervisor, câmera com erro sem diagnóstico, distribuição e publicação pendentes.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frentes fechadas nessa fase: hierarquia, câmera, instalador e publicação.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Implementamos a hierarquia exigida: usuário opera, supervisor bloqueia contas, administrador tem poder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Câmera: tentativa forçada por dispositivo, detecção de bloqueio por política (comum em PC de escola) e mensagens claras.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Instalador NSIS: atalhos com a logo, assistente em português e instalação por usuário, sem pedir senha de administrador.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Publicação completa: site no GitHub Pages, instalador na release e repositório com tudo — links obrigatórios entregues.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tabelas no Supabase, com Row Level Security e provisionamento por script idempotente.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banco inteiro nasce de um único script: setup-completo.sql. Ele cria tabelas, coluna de bloqueio, políticas RLS e a conta admin — é idempotente, à prova de erro e termina com uma verificação que deve dar tudo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de uso com os três atores e o include de registro — versão A4 acompanha o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LGPD por concepção: descriptor de 128 números, zero fotos, RLS no banco e site isolado dos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Raul liderou e estruturou o projeto; Vicente cuidou do suporte e do instalável; Mozer e Gian da documentação; Julio e Richard do feedback e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Fechamos a fase: identificação rápida, hierarquia completa e tudo publicado.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Obrigado! Repositório e site na tela. Ficamos à disposição.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bmp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>
            <a:off x="0" y="0"/>
            <a:ext cx="2377440" cy="2377440"/>
          </a:xfrm>
          <a:prstGeom prst="pie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09960" y="0"/>
            <a:ext cx="1691640" cy="1691640"/>
          </a:xfrm>
          <a:prstGeom prst="ellipse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600000">
            <a:off x="0" y="5532120"/>
            <a:ext cx="1828800" cy="1325880"/>
          </a:xfrm>
          <a:prstGeom prst="ellipse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35640" y="539496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09376" y="539496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83112" y="539496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56848" y="539496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30584" y="539496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04320" y="539496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35640" y="556869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09376" y="556869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83112" y="556869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56848" y="556869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30584" y="556869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704320" y="556869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35640" y="574243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09376" y="574243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83112" y="574243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56848" y="574243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30584" y="574243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704320" y="574243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35640" y="591616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09376" y="591616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83112" y="591616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56848" y="591616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30584" y="591616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704320" y="591616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246120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392424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3538728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3685032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3831336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logo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685800"/>
            <a:ext cx="1463040" cy="1463040"/>
          </a:xfrm>
          <a:prstGeom prst="rect">
            <a:avLst/>
          </a:prstGeom>
        </p:spPr>
      </p:pic>
      <p:pic>
        <p:nvPicPr>
          <p:cNvPr id="36" name="Picture 35" descr="logo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1554480"/>
            <a:ext cx="1234440" cy="123444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337560" y="1627632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6600" b="1" i="0">
                <a:solidFill>
                  <a:srgbClr val="17140F"/>
                </a:solidFill>
                <a:latin typeface="Space Grotesk"/>
              </a:rPr>
              <a:t>eye</a:t>
            </a:r>
            <a:r>
              <a:rPr sz="6600" b="1" i="0">
                <a:solidFill>
                  <a:srgbClr val="FE8826"/>
                </a:solidFill>
                <a:latin typeface="Space Grotesk"/>
              </a:rPr>
              <a:t> 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4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4000" b="1" i="0">
                <a:solidFill>
                  <a:srgbClr val="17140F"/>
                </a:solidFill>
                <a:latin typeface="Space Grotesk"/>
              </a:rPr>
              <a:t>ATUALIZAÇÃO DO PROJETO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343400"/>
            <a:ext cx="9601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100" b="0" i="1">
                <a:solidFill>
                  <a:srgbClr val="4A463C"/>
                </a:solidFill>
                <a:latin typeface="Space Grotesk"/>
              </a:rPr>
              <a:t>Fase final — o que evoluímos até a entrega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20240" y="5257800"/>
            <a:ext cx="3657600" cy="566928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0240" y="5257800"/>
            <a:ext cx="3657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7F7EC"/>
                </a:solidFill>
                <a:latin typeface="Space Grotesk"/>
              </a:rPr>
              <a:t>TURMA 3CDS ·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5257800"/>
            <a:ext cx="6400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17140F"/>
                </a:solidFill>
                <a:latin typeface="Space Grotesk"/>
              </a:rPr>
              <a:t>Gian · Julio · Mozer · Raul · Richard · Vicente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01 / 14</a:t>
            </a:r>
          </a:p>
        </p:txBody>
      </p:sp>
      <p:sp>
        <p:nvSpPr>
          <p:cNvPr id="46" name="Oval 45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03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286000" cy="502920"/>
          </a:xfrm>
          <a:prstGeom prst="rect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O PONTO DE PARTIDA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800" b="1" i="0">
                <a:solidFill>
                  <a:srgbClr val="17140F"/>
                </a:solidFill>
                <a:latin typeface="Space Grotesk"/>
              </a:rPr>
              <a:t>Última fase: protótipo promissor,</a:t>
            </a:r>
          </a:p>
          <a:p>
            <a:pPr algn="l">
              <a:spcAft>
                <a:spcPts val="100"/>
              </a:spcAft>
            </a:pPr>
            <a:r>
              <a:rPr sz="3800" b="1" i="0">
                <a:solidFill>
                  <a:srgbClr val="17140F"/>
                </a:solidFill>
                <a:latin typeface="Space Grotesk"/>
              </a:rPr>
              <a:t>mas incompleto.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291840"/>
            <a:ext cx="256032" cy="256032"/>
          </a:xfrm>
          <a:prstGeom prst="ellipse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18211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1" i="0">
                <a:solidFill>
                  <a:srgbClr val="17140F"/>
                </a:solidFill>
                <a:latin typeface="Space Grotesk"/>
              </a:rPr>
              <a:t>Sem hierarquia completa de contas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069080"/>
            <a:ext cx="256032" cy="256032"/>
          </a:xfrm>
          <a:prstGeom prst="ellipse">
            <a:avLst/>
          </a:prstGeom>
          <a:solidFill>
            <a:srgbClr val="FE882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9593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1" i="0">
                <a:solidFill>
                  <a:srgbClr val="17140F"/>
                </a:solidFill>
                <a:latin typeface="Space Grotesk"/>
              </a:rPr>
              <a:t>Câmera falhando sem explicação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846320"/>
            <a:ext cx="256032" cy="256032"/>
          </a:xfrm>
          <a:prstGeom prst="ellipse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473659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600" b="1" i="0">
                <a:solidFill>
                  <a:srgbClr val="17140F"/>
                </a:solidFill>
                <a:latin typeface="Space Grotesk"/>
              </a:rPr>
              <a:t>Sem instalador publicado e site fora do 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02 / 14</a:t>
            </a:r>
          </a:p>
        </p:txBody>
      </p:sp>
      <p:sp>
        <p:nvSpPr>
          <p:cNvPr id="17" name="Oval 16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C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286000" cy="502920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A 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4000" b="1" i="0">
                <a:solidFill>
                  <a:srgbClr val="17140F"/>
                </a:solidFill>
                <a:latin typeface="Space Grotesk"/>
              </a:rPr>
              <a:t>4 frentes concluídas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06040"/>
            <a:ext cx="534924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606040"/>
            <a:ext cx="128016" cy="1554480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15768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4400" b="1" i="0">
                <a:solidFill>
                  <a:srgbClr val="B21236"/>
                </a:solidFill>
                <a:latin typeface="Playfair Display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807208"/>
            <a:ext cx="4023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17140F"/>
                </a:solidFill>
                <a:latin typeface="Space Grotesk"/>
              </a:rPr>
              <a:t>HIERARQUIA</a:t>
            </a:r>
          </a:p>
          <a:p>
            <a:pPr algn="l">
              <a:spcAft>
                <a:spcPts val="100"/>
              </a:spcAft>
            </a:pPr>
            <a:r>
              <a:rPr sz="1450" b="0" i="0">
                <a:solidFill>
                  <a:srgbClr val="4A463C"/>
                </a:solidFill>
                <a:latin typeface="Space Grotesk"/>
              </a:rPr>
              <a:t>3 níveis de acesso: usuário, supervisor e administrador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2606040"/>
            <a:ext cx="534924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2606040"/>
            <a:ext cx="128016" cy="1554480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715768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4400" b="1" i="0">
                <a:solidFill>
                  <a:srgbClr val="FEB914"/>
                </a:solidFill>
                <a:latin typeface="Playfair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807208"/>
            <a:ext cx="4023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17140F"/>
                </a:solidFill>
                <a:latin typeface="Space Grotesk"/>
              </a:rPr>
              <a:t>CÂMERA</a:t>
            </a:r>
          </a:p>
          <a:p>
            <a:pPr algn="l">
              <a:spcAft>
                <a:spcPts val="100"/>
              </a:spcAft>
            </a:pPr>
            <a:r>
              <a:rPr sz="1450" b="0" i="0">
                <a:solidFill>
                  <a:srgbClr val="4A463C"/>
                </a:solidFill>
                <a:latin typeface="Space Grotesk"/>
              </a:rPr>
              <a:t>Modo forçado + diagnóstico em português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389120"/>
            <a:ext cx="534924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389120"/>
            <a:ext cx="128016" cy="1554480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98848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4400" b="1" i="0">
                <a:solidFill>
                  <a:srgbClr val="2C9FA2"/>
                </a:solidFill>
                <a:latin typeface="Playfair Display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590288"/>
            <a:ext cx="4023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17140F"/>
                </a:solidFill>
                <a:latin typeface="Space Grotesk"/>
              </a:rPr>
              <a:t>INSTALADOR</a:t>
            </a:r>
          </a:p>
          <a:p>
            <a:pPr algn="l">
              <a:spcAft>
                <a:spcPts val="100"/>
              </a:spcAft>
            </a:pPr>
            <a:r>
              <a:rPr sz="1450" b="0" i="0">
                <a:solidFill>
                  <a:srgbClr val="4A463C"/>
                </a:solidFill>
                <a:latin typeface="Space Grotesk"/>
              </a:rPr>
              <a:t>Setup .exe com logo, atalhos e sem senha de admin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4389120"/>
            <a:ext cx="5349240" cy="15544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389120"/>
            <a:ext cx="128016" cy="1554480"/>
          </a:xfrm>
          <a:prstGeom prst="rect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498848"/>
            <a:ext cx="822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4400" b="1" i="0">
                <a:solidFill>
                  <a:srgbClr val="F03812"/>
                </a:solidFill>
                <a:latin typeface="Playfair Display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4590288"/>
            <a:ext cx="4023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1" i="0">
                <a:solidFill>
                  <a:srgbClr val="17140F"/>
                </a:solidFill>
                <a:latin typeface="Space Grotesk"/>
              </a:rPr>
              <a:t>PUBLICAÇÃO</a:t>
            </a:r>
          </a:p>
          <a:p>
            <a:pPr algn="l">
              <a:spcAft>
                <a:spcPts val="100"/>
              </a:spcAft>
            </a:pPr>
            <a:r>
              <a:rPr sz="1450" b="0" i="0">
                <a:solidFill>
                  <a:srgbClr val="4A463C"/>
                </a:solidFill>
                <a:latin typeface="Space Grotesk"/>
              </a:rPr>
              <a:t>Site no ar + release + repositório público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03 / 14</a:t>
            </a:r>
          </a:p>
        </p:txBody>
      </p:sp>
      <p:sp>
        <p:nvSpPr>
          <p:cNvPr id="27" name="Oval 26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21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HIERARQUIA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3 níveis de acesso — no app de verdade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51760"/>
            <a:ext cx="1056132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651760"/>
            <a:ext cx="128016" cy="1051560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651760"/>
            <a:ext cx="42062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 i="0">
                <a:solidFill>
                  <a:srgbClr val="B21236"/>
                </a:solidFill>
                <a:latin typeface="Space Grotesk"/>
              </a:rPr>
              <a:t>ADMINISTRADOR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651760"/>
            <a:ext cx="57607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0" i="0">
                <a:solidFill>
                  <a:srgbClr val="4A463C"/>
                </a:solidFill>
                <a:latin typeface="Space Grotesk"/>
              </a:rPr>
              <a:t>tudo: promove contas e cria admins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58768"/>
            <a:ext cx="1056132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858768"/>
            <a:ext cx="128016" cy="1051560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858768"/>
            <a:ext cx="42062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 i="0">
                <a:solidFill>
                  <a:srgbClr val="2C9FA2"/>
                </a:solidFill>
                <a:latin typeface="Space Grotesk"/>
              </a:rPr>
              <a:t>SUPERVISOR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858768"/>
            <a:ext cx="57607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0" i="0">
                <a:solidFill>
                  <a:srgbClr val="4A463C"/>
                </a:solidFill>
                <a:latin typeface="Space Grotesk"/>
              </a:rPr>
              <a:t>acompanha a gestão e bloqueia contas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065776"/>
            <a:ext cx="1056132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5065776"/>
            <a:ext cx="128016" cy="1051560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65776"/>
            <a:ext cx="42062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700" b="1" i="0">
                <a:solidFill>
                  <a:srgbClr val="17140F"/>
                </a:solidFill>
                <a:latin typeface="Space Grotesk"/>
              </a:rPr>
              <a:t>USUÁRIO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065776"/>
            <a:ext cx="57607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0" i="0">
                <a:solidFill>
                  <a:srgbClr val="4A463C"/>
                </a:solidFill>
                <a:latin typeface="Space Grotesk"/>
              </a:rPr>
              <a:t>opera a portaria no dia a 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04 / 14</a:t>
            </a:r>
          </a:p>
        </p:txBody>
      </p:sp>
      <p:sp>
        <p:nvSpPr>
          <p:cNvPr id="23" name="Oval 22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E8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FE882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CÂMERA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Webcam travada? Agora o app</a:t>
            </a:r>
          </a:p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explica e resolve.</a:t>
            </a:r>
          </a:p>
        </p:txBody>
      </p:sp>
      <p:pic>
        <p:nvPicPr>
          <p:cNvPr id="8" name="Picture 7" descr="qa_diag_g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743200"/>
            <a:ext cx="4937760" cy="307715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22960" y="2834640"/>
            <a:ext cx="256032" cy="256032"/>
          </a:xfrm>
          <a:prstGeom prst="ellipse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706624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17140F"/>
                </a:solidFill>
                <a:latin typeface="Space Grotesk"/>
              </a:rPr>
              <a:t>Força a abertura: tenta cada webcam, 2× cada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794760"/>
            <a:ext cx="256032" cy="256032"/>
          </a:xfrm>
          <a:prstGeom prst="ellipse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666744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17140F"/>
                </a:solidFill>
                <a:latin typeface="Space Grotesk"/>
              </a:rPr>
              <a:t>Detecta bloqueio por política do Windows (escola)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754880"/>
            <a:ext cx="256032" cy="256032"/>
          </a:xfrm>
          <a:prstGeom prst="ellipse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626864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17140F"/>
                </a:solidFill>
                <a:latin typeface="Space Grotesk"/>
              </a:rPr>
              <a:t>Diagnóstico completo em português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56235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1">
                <a:solidFill>
                  <a:srgbClr val="4A463C"/>
                </a:solidFill>
                <a:latin typeface="Space Grotesk"/>
              </a:rPr>
              <a:t>painel de diagnóstico do 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05 / 14</a:t>
            </a:r>
          </a:p>
        </p:txBody>
      </p:sp>
      <p:sp>
        <p:nvSpPr>
          <p:cNvPr id="19" name="Oval 18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C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INSTALADOR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EyeGate-Setup.exe:</a:t>
            </a:r>
          </a:p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instala em 2 cliques.</a:t>
            </a:r>
          </a:p>
        </p:txBody>
      </p:sp>
      <p:pic>
        <p:nvPicPr>
          <p:cNvPr id="8" name="Picture 7" descr="wizard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971800"/>
            <a:ext cx="1599909" cy="30632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206240" y="2926080"/>
            <a:ext cx="256032" cy="256032"/>
          </a:xfrm>
          <a:prstGeom prst="ellipse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798064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17140F"/>
                </a:solidFill>
                <a:latin typeface="Space Grotesk"/>
              </a:rPr>
              <a:t>Logo do projeto na barra e nos atalhos</a:t>
            </a:r>
          </a:p>
        </p:txBody>
      </p:sp>
      <p:sp>
        <p:nvSpPr>
          <p:cNvPr id="11" name="Oval 10"/>
          <p:cNvSpPr/>
          <p:nvPr/>
        </p:nvSpPr>
        <p:spPr>
          <a:xfrm>
            <a:off x="4206240" y="3767328"/>
            <a:ext cx="256032" cy="256032"/>
          </a:xfrm>
          <a:prstGeom prst="ellipse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639312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17140F"/>
                </a:solidFill>
                <a:latin typeface="Space Grotesk"/>
              </a:rPr>
              <a:t>Wizard bonito em português (NSIS)</a:t>
            </a:r>
          </a:p>
        </p:txBody>
      </p:sp>
      <p:sp>
        <p:nvSpPr>
          <p:cNvPr id="13" name="Oval 12"/>
          <p:cNvSpPr/>
          <p:nvPr/>
        </p:nvSpPr>
        <p:spPr>
          <a:xfrm>
            <a:off x="4206240" y="4608576"/>
            <a:ext cx="256032" cy="256032"/>
          </a:xfrm>
          <a:prstGeom prst="ellipse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48056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17140F"/>
                </a:solidFill>
                <a:latin typeface="Space Grotesk"/>
              </a:rPr>
              <a:t>Instala SEM senha de administrador</a:t>
            </a:r>
          </a:p>
        </p:txBody>
      </p:sp>
      <p:sp>
        <p:nvSpPr>
          <p:cNvPr id="15" name="Oval 14"/>
          <p:cNvSpPr/>
          <p:nvPr/>
        </p:nvSpPr>
        <p:spPr>
          <a:xfrm>
            <a:off x="4206240" y="5449824"/>
            <a:ext cx="256032" cy="256032"/>
          </a:xfrm>
          <a:prstGeom prst="ellipse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5321808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100" b="1" i="0">
                <a:solidFill>
                  <a:srgbClr val="17140F"/>
                </a:solidFill>
                <a:latin typeface="Space Grotesk"/>
              </a:rPr>
              <a:t>Desinstalador no Painel de Controle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06 / 14</a:t>
            </a:r>
          </a:p>
        </p:txBody>
      </p:sp>
      <p:sp>
        <p:nvSpPr>
          <p:cNvPr id="20" name="Oval 19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03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PUBLICAÇÃO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800" b="1" i="0">
                <a:solidFill>
                  <a:srgbClr val="17140F"/>
                </a:solidFill>
                <a:latin typeface="Space Grotesk"/>
              </a:rPr>
              <a:t>Tudo público e funcionando.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43200"/>
            <a:ext cx="1056132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43200"/>
            <a:ext cx="128016" cy="1051560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816352"/>
            <a:ext cx="3931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17140F"/>
                </a:solidFill>
                <a:latin typeface="Space Grotesk"/>
              </a:rPr>
              <a:t>SITE NO 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816352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7140F"/>
                </a:solidFill>
                <a:latin typeface="Consolas"/>
              </a:rPr>
              <a:t>vicentexk.github.io/EYE_GATE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4A463C"/>
                </a:solidFill>
                <a:latin typeface="Space Grotesk"/>
              </a:rPr>
              <a:t>apresentação + suporte + download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950208"/>
            <a:ext cx="1056132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950208"/>
            <a:ext cx="128016" cy="1051560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023360"/>
            <a:ext cx="3931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17140F"/>
                </a:solidFill>
                <a:latin typeface="Space Grotesk"/>
              </a:rPr>
              <a:t>INSTALADOR NA RELEASE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02336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7140F"/>
                </a:solidFill>
                <a:latin typeface="Consolas"/>
              </a:rPr>
              <a:t>github.com/vicentexk/EYE_GATE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4A463C"/>
                </a:solidFill>
                <a:latin typeface="Space Grotesk"/>
              </a:rPr>
              <a:t>releases → EyeGate-Setup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157216"/>
            <a:ext cx="1056132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5157216"/>
            <a:ext cx="128016" cy="1051560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230368"/>
            <a:ext cx="39319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17140F"/>
                </a:solidFill>
                <a:latin typeface="Space Grotesk"/>
              </a:rPr>
              <a:t>CÓDIGO-FONTE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5230368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 i="0">
                <a:solidFill>
                  <a:srgbClr val="17140F"/>
                </a:solidFill>
                <a:latin typeface="Consolas"/>
              </a:rPr>
              <a:t>github.com/vicentexk/EYE_GATE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4A463C"/>
                </a:solidFill>
                <a:latin typeface="Space Grotesk"/>
              </a:rPr>
              <a:t>frontend + backend + SQL + README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07 / 14</a:t>
            </a:r>
          </a:p>
        </p:txBody>
      </p:sp>
      <p:sp>
        <p:nvSpPr>
          <p:cNvPr id="23" name="Oval 22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EB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7F7EC"/>
                </a:solidFill>
                <a:latin typeface="Space Grotesk"/>
              </a:rPr>
              <a:t>BANCO DE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PostgreSQL na nuvem,</a:t>
            </a:r>
          </a:p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protegido e provisionado por script.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246120"/>
            <a:ext cx="2542032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246120"/>
            <a:ext cx="2542032" cy="118872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2267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7140F"/>
                </a:solidFill>
                <a:latin typeface="Consolas"/>
              </a:rPr>
              <a:t>usuarios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2267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0" i="0">
                <a:solidFill>
                  <a:srgbClr val="4A463C"/>
                </a:solidFill>
                <a:latin typeface="Space Grotesk"/>
              </a:rPr>
              <a:t>contas + bloqueio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872" y="3246120"/>
            <a:ext cx="2542032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3246120"/>
            <a:ext cx="2542032" cy="118872"/>
          </a:xfrm>
          <a:prstGeom prst="rect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3520440"/>
            <a:ext cx="2267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7140F"/>
                </a:solidFill>
                <a:latin typeface="Consolas"/>
              </a:rPr>
              <a:t>admins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4206240"/>
            <a:ext cx="2267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0" i="0">
                <a:solidFill>
                  <a:srgbClr val="4A463C"/>
                </a:solidFill>
                <a:latin typeface="Space Grotesk"/>
              </a:rPr>
              <a:t>administradores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4" y="3246120"/>
            <a:ext cx="2542032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3246120"/>
            <a:ext cx="2542032" cy="118872"/>
          </a:xfrm>
          <a:prstGeom prst="rect">
            <a:avLst/>
          </a:prstGeom>
          <a:solidFill>
            <a:srgbClr val="FE882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3520440"/>
            <a:ext cx="2267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7140F"/>
                </a:solidFill>
                <a:latin typeface="Consolas"/>
              </a:rPr>
              <a:t>alunos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4206240"/>
            <a:ext cx="2267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0" i="0">
                <a:solidFill>
                  <a:srgbClr val="4A463C"/>
                </a:solidFill>
                <a:latin typeface="Space Grotesk"/>
              </a:rPr>
              <a:t>descriptor facial 128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696" y="3246120"/>
            <a:ext cx="2542032" cy="173736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3246120"/>
            <a:ext cx="2542032" cy="118872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3520440"/>
            <a:ext cx="226771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7140F"/>
                </a:solidFill>
                <a:latin typeface="Consolas"/>
              </a:rPr>
              <a:t>logs_reconhecimento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4206240"/>
            <a:ext cx="2267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0" i="0">
                <a:solidFill>
                  <a:srgbClr val="4A463C"/>
                </a:solidFill>
                <a:latin typeface="Space Grotesk"/>
              </a:rPr>
              <a:t>cada acesso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49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000" b="1" i="0">
                <a:solidFill>
                  <a:srgbClr val="2C9FA2"/>
                </a:solidFill>
                <a:latin typeface="Space Grotesk"/>
              </a:rPr>
              <a:t>RLS ativo</a:t>
            </a:r>
            <a:r>
              <a:rPr sz="2000" b="0" i="0">
                <a:solidFill>
                  <a:srgbClr val="4A463C"/>
                </a:solidFill>
                <a:latin typeface="Space Grotesk"/>
              </a:rPr>
              <a:t>  ·  script idempotente: rodou de novo, nada quebra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08 / 14</a:t>
            </a:r>
          </a:p>
        </p:txBody>
      </p:sp>
      <p:sp>
        <p:nvSpPr>
          <p:cNvPr id="28" name="Oval 27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C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194560" cy="502920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SCRIPTS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Um script cria o banco inteiro.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6035040" cy="3977639"/>
          </a:xfrm>
          <a:prstGeom prst="rect">
            <a:avLst/>
          </a:prstGeom>
          <a:solidFill>
            <a:srgbClr val="17140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95144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 i="0">
                <a:solidFill>
                  <a:srgbClr val="F7F7EC"/>
                </a:solidFill>
                <a:latin typeface="Consolas"/>
              </a:rPr>
              <a:t>supabase/setup-completo.sql</a:t>
            </a:r>
          </a:p>
        </p:txBody>
      </p:sp>
      <p:sp>
        <p:nvSpPr>
          <p:cNvPr id="10" name="Oval 9"/>
          <p:cNvSpPr/>
          <p:nvPr/>
        </p:nvSpPr>
        <p:spPr>
          <a:xfrm>
            <a:off x="5806440" y="2331720"/>
            <a:ext cx="146304" cy="146304"/>
          </a:xfrm>
          <a:prstGeom prst="ellipse">
            <a:avLst/>
          </a:prstGeom>
          <a:solidFill>
            <a:srgbClr val="F03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80760" y="2331720"/>
            <a:ext cx="146304" cy="146304"/>
          </a:xfrm>
          <a:prstGeom prst="ellipse">
            <a:avLst/>
          </a:prstGeom>
          <a:solidFill>
            <a:srgbClr val="FEB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5080" y="2331720"/>
            <a:ext cx="146304" cy="146304"/>
          </a:xfrm>
          <a:prstGeom prst="ellipse">
            <a:avLst/>
          </a:prstGeom>
          <a:solidFill>
            <a:srgbClr val="2C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679192"/>
            <a:ext cx="6035040" cy="1905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834640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8B8677"/>
                </a:solidFill>
                <a:latin typeface="Consolas"/>
              </a:rPr>
              <a:t>-- cria tudo de uma vez — e não para nunca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099816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2C9FA2"/>
                </a:solidFill>
                <a:latin typeface="Consolas"/>
              </a:rPr>
              <a:t>create table </a:t>
            </a:r>
            <a:r>
              <a:rPr sz="1150" b="1" i="0">
                <a:solidFill>
                  <a:srgbClr val="FEB914"/>
                </a:solidFill>
                <a:latin typeface="Consolas"/>
              </a:rPr>
              <a:t>if not exists </a:t>
            </a:r>
            <a:r>
              <a:rPr sz="1150" b="0" i="0">
                <a:solidFill>
                  <a:srgbClr val="F7F7EC"/>
                </a:solidFill>
                <a:latin typeface="Consolas"/>
              </a:rPr>
              <a:t>usuarios (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364992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F7F7EC"/>
                </a:solidFill>
                <a:latin typeface="Consolas"/>
              </a:rPr>
              <a:t>  id uuid primary key, nome text,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630168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F7F7EC"/>
                </a:solidFill>
                <a:latin typeface="Consolas"/>
              </a:rPr>
              <a:t>  email text unique, senha text,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3895344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F7F7EC"/>
                </a:solidFill>
                <a:latin typeface="Consolas"/>
              </a:rPr>
              <a:t>  tipo text, bloqueado boolean);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160520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500" b="0" i="0">
                <a:solidFill>
                  <a:srgbClr val="F7F7EC"/>
                </a:solidFill>
                <a:latin typeface="Consola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425696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2C9FA2"/>
                </a:solidFill>
                <a:latin typeface="Consolas"/>
              </a:rPr>
              <a:t>alter table </a:t>
            </a:r>
            <a:r>
              <a:rPr sz="1150" b="0" i="0">
                <a:solidFill>
                  <a:srgbClr val="F7F7EC"/>
                </a:solidFill>
                <a:latin typeface="Consolas"/>
              </a:rPr>
              <a:t>usuarios add column </a:t>
            </a:r>
            <a:r>
              <a:rPr sz="1150" b="1" i="0">
                <a:solidFill>
                  <a:srgbClr val="FEB914"/>
                </a:solidFill>
                <a:latin typeface="Consolas"/>
              </a:rPr>
              <a:t>if not exists </a:t>
            </a:r>
            <a:r>
              <a:rPr sz="1150" b="0" i="0">
                <a:solidFill>
                  <a:srgbClr val="F7F7EC"/>
                </a:solidFill>
                <a:latin typeface="Consolas"/>
              </a:rPr>
              <a:t>bloqueado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690872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2C9FA2"/>
                </a:solidFill>
                <a:latin typeface="Consolas"/>
              </a:rPr>
              <a:t>create policy </a:t>
            </a:r>
            <a:r>
              <a:rPr sz="1150" b="0" i="0">
                <a:solidFill>
                  <a:srgbClr val="F7F7EC"/>
                </a:solidFill>
                <a:latin typeface="Consolas"/>
              </a:rPr>
              <a:t>"usuarios_select"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4956048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2C9FA2"/>
                </a:solidFill>
                <a:latin typeface="Consolas"/>
              </a:rPr>
              <a:t>insert into </a:t>
            </a:r>
            <a:r>
              <a:rPr sz="1150" b="0" i="0">
                <a:solidFill>
                  <a:srgbClr val="F7F7EC"/>
                </a:solidFill>
                <a:latin typeface="Consolas"/>
              </a:rPr>
              <a:t>usuarios (email, tipo)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5221224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2C9FA2"/>
                </a:solidFill>
                <a:latin typeface="Consolas"/>
              </a:rPr>
              <a:t>  values </a:t>
            </a:r>
            <a:r>
              <a:rPr sz="1150" b="0" i="0">
                <a:solidFill>
                  <a:srgbClr val="F7F7EC"/>
                </a:solidFill>
                <a:latin typeface="Consolas"/>
              </a:rPr>
              <a:t>('professor@...', 'admin');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5486400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500" b="0" i="0">
                <a:solidFill>
                  <a:srgbClr val="F7F7EC"/>
                </a:solidFill>
                <a:latin typeface="Consola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751576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 i="0">
                <a:solidFill>
                  <a:srgbClr val="2C9FA2"/>
                </a:solidFill>
                <a:latin typeface="Consolas"/>
              </a:rPr>
              <a:t>select </a:t>
            </a:r>
            <a:r>
              <a:rPr sz="1150" b="0" i="0">
                <a:solidFill>
                  <a:srgbClr val="F7F7EC"/>
                </a:solidFill>
                <a:latin typeface="Consolas"/>
              </a:rPr>
              <a:t>'usuarios.bloqueado', </a:t>
            </a:r>
            <a:r>
              <a:rPr sz="1150" b="1" i="0">
                <a:solidFill>
                  <a:srgbClr val="FEB914"/>
                </a:solidFill>
                <a:latin typeface="Consolas"/>
              </a:rPr>
              <a:t>true as ok</a:t>
            </a:r>
            <a:r>
              <a:rPr sz="1150" b="0" i="0">
                <a:solidFill>
                  <a:srgbClr val="8B8677"/>
                </a:solidFill>
                <a:latin typeface="Consolas"/>
              </a:rPr>
              <a:t>;  -- tudo TRUE</a:t>
            </a:r>
          </a:p>
        </p:txBody>
      </p:sp>
      <p:sp>
        <p:nvSpPr>
          <p:cNvPr id="26" name="Oval 25"/>
          <p:cNvSpPr/>
          <p:nvPr/>
        </p:nvSpPr>
        <p:spPr>
          <a:xfrm>
            <a:off x="7178040" y="2331720"/>
            <a:ext cx="274320" cy="274320"/>
          </a:xfrm>
          <a:prstGeom prst="ellipse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2185416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7140F"/>
                </a:solidFill>
                <a:latin typeface="Space Grotesk"/>
              </a:rPr>
              <a:t>1 arquivo roda tudo no SQL Editor</a:t>
            </a:r>
          </a:p>
        </p:txBody>
      </p:sp>
      <p:sp>
        <p:nvSpPr>
          <p:cNvPr id="28" name="Oval 27"/>
          <p:cNvSpPr/>
          <p:nvPr/>
        </p:nvSpPr>
        <p:spPr>
          <a:xfrm>
            <a:off x="7178040" y="3136392"/>
            <a:ext cx="274320" cy="274320"/>
          </a:xfrm>
          <a:prstGeom prst="ellipse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2990088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7140F"/>
                </a:solidFill>
                <a:latin typeface="Space Grotesk"/>
              </a:rPr>
              <a:t>Idempotente: rodou de novo, nada quebra</a:t>
            </a:r>
          </a:p>
        </p:txBody>
      </p:sp>
      <p:sp>
        <p:nvSpPr>
          <p:cNvPr id="30" name="Oval 29"/>
          <p:cNvSpPr/>
          <p:nvPr/>
        </p:nvSpPr>
        <p:spPr>
          <a:xfrm>
            <a:off x="7178040" y="3941064"/>
            <a:ext cx="274320" cy="274320"/>
          </a:xfrm>
          <a:prstGeom prst="ellipse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3794760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7140F"/>
                </a:solidFill>
                <a:latin typeface="Space Grotesk"/>
              </a:rPr>
              <a:t>À prova de erro: nunca para no meio</a:t>
            </a:r>
          </a:p>
        </p:txBody>
      </p:sp>
      <p:sp>
        <p:nvSpPr>
          <p:cNvPr id="32" name="Oval 31"/>
          <p:cNvSpPr/>
          <p:nvPr/>
        </p:nvSpPr>
        <p:spPr>
          <a:xfrm>
            <a:off x="7178040" y="4745736"/>
            <a:ext cx="274320" cy="274320"/>
          </a:xfrm>
          <a:prstGeom prst="ellipse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4599432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7140F"/>
                </a:solidFill>
                <a:latin typeface="Space Grotesk"/>
              </a:rPr>
              <a:t>Termina com verificação: tudo TRUE</a:t>
            </a:r>
          </a:p>
        </p:txBody>
      </p:sp>
      <p:sp>
        <p:nvSpPr>
          <p:cNvPr id="34" name="Oval 33"/>
          <p:cNvSpPr/>
          <p:nvPr/>
        </p:nvSpPr>
        <p:spPr>
          <a:xfrm>
            <a:off x="7178040" y="5550408"/>
            <a:ext cx="274320" cy="274320"/>
          </a:xfrm>
          <a:prstGeom prst="ellipse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5404104"/>
            <a:ext cx="4114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800" b="1" i="0">
                <a:solidFill>
                  <a:srgbClr val="17140F"/>
                </a:solidFill>
                <a:latin typeface="Space Grotesk"/>
              </a:rPr>
              <a:t>Cria a conta de admin da escola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10 / 14</a:t>
            </a:r>
          </a:p>
        </p:txBody>
      </p:sp>
      <p:sp>
        <p:nvSpPr>
          <p:cNvPr id="39" name="Oval 38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C9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7F7EC"/>
                </a:solidFill>
                <a:latin typeface="Space Grotesk"/>
              </a:rPr>
              <a:t>MODELAGEM UML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Diagrama de caso de uso</a:t>
            </a:r>
          </a:p>
        </p:txBody>
      </p:sp>
      <p:pic>
        <p:nvPicPr>
          <p:cNvPr id="8" name="Picture 7" descr="caso-de-uso-eye-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2975672" cy="42062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949440" y="2377440"/>
            <a:ext cx="256032" cy="256032"/>
          </a:xfrm>
          <a:prstGeom prst="ellipse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2249424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17140F"/>
                </a:solidFill>
                <a:latin typeface="Space Grotesk"/>
              </a:rPr>
              <a:t>3 atores: usuário, supervisor e administrador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0" y="3429000"/>
            <a:ext cx="256032" cy="256032"/>
          </a:xfrm>
          <a:prstGeom prst="ellipse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3300984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17140F"/>
                </a:solidFill>
                <a:latin typeface="Space Grotesk"/>
              </a:rPr>
              <a:t>Todo acesso registra entrada/saída («include»)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0" y="4480560"/>
            <a:ext cx="256032" cy="256032"/>
          </a:xfrm>
          <a:prstGeom prst="ellipse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4352544"/>
            <a:ext cx="4389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17140F"/>
                </a:solidFill>
                <a:latin typeface="Space Grotesk"/>
              </a:rPr>
              <a:t>Versão A4 no documento do TCC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10 / 14</a:t>
            </a:r>
          </a:p>
        </p:txBody>
      </p:sp>
      <p:sp>
        <p:nvSpPr>
          <p:cNvPr id="18" name="Oval 17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B21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LGPD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4000" b="1" i="0">
                <a:solidFill>
                  <a:srgbClr val="B21236"/>
                </a:solidFill>
                <a:latin typeface="Space Grotesk"/>
              </a:rPr>
              <a:t>Sem guardar rostos.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2200" b="0" i="0">
                <a:solidFill>
                  <a:srgbClr val="4A463C"/>
                </a:solidFill>
                <a:latin typeface="Space Grotesk"/>
              </a:rPr>
              <a:t>O aluno vira 128 números — a imagem nunca é armazenada.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401568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566160"/>
            <a:ext cx="3401568" cy="128016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34015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800" b="1" i="0">
                <a:solidFill>
                  <a:srgbClr val="17140F"/>
                </a:solidFill>
                <a:latin typeface="Playfair Display"/>
              </a:rPr>
              <a:t>128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3401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4A463C"/>
                </a:solidFill>
                <a:latin typeface="Space Grotesk"/>
              </a:rPr>
              <a:t>números por rosto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3566160"/>
            <a:ext cx="3401568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3566160"/>
            <a:ext cx="3401568" cy="128016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3840480"/>
            <a:ext cx="34015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800" b="1" i="0">
                <a:solidFill>
                  <a:srgbClr val="17140F"/>
                </a:solidFill>
                <a:latin typeface="Playfair Display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4892040"/>
            <a:ext cx="3401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4A463C"/>
                </a:solidFill>
                <a:latin typeface="Space Grotesk"/>
              </a:rPr>
              <a:t>fotos armazenadas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1856" y="3566160"/>
            <a:ext cx="3401568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1856" y="3566160"/>
            <a:ext cx="3401568" cy="128016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1856" y="3840480"/>
            <a:ext cx="34015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800" b="1" i="0">
                <a:solidFill>
                  <a:srgbClr val="17140F"/>
                </a:solidFill>
                <a:latin typeface="Playfair Display"/>
              </a:rPr>
              <a:t>RLS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856" y="4892040"/>
            <a:ext cx="34015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4A463C"/>
                </a:solidFill>
                <a:latin typeface="Space Grotesk"/>
              </a:rPr>
              <a:t>proteção no banco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11 / 14</a:t>
            </a:r>
          </a:p>
        </p:txBody>
      </p:sp>
      <p:sp>
        <p:nvSpPr>
          <p:cNvPr id="24" name="Oval 23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E8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FE882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EQUIPE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3600" b="1" i="0">
                <a:solidFill>
                  <a:srgbClr val="17140F"/>
                </a:solidFill>
                <a:latin typeface="Space Grotesk"/>
              </a:rPr>
              <a:t>Quem fez o quê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338328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3383280" cy="109728"/>
          </a:xfrm>
          <a:prstGeom prst="rect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a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404872"/>
            <a:ext cx="1152144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58568" y="2368296"/>
            <a:ext cx="1810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F03812"/>
                </a:solidFill>
                <a:latin typeface="Space Grotesk"/>
              </a:rPr>
              <a:t>RAUL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A463C"/>
                </a:solidFill>
                <a:latin typeface="Space Grotesk"/>
              </a:rPr>
              <a:t>Líder do grupo e estruturador do projeto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338328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48840"/>
            <a:ext cx="3383280" cy="109728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c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04872"/>
            <a:ext cx="1152144" cy="1371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70448" y="2368296"/>
            <a:ext cx="1810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9FA2"/>
                </a:solidFill>
                <a:latin typeface="Space Grotesk"/>
              </a:rPr>
              <a:t>VICENTE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A463C"/>
                </a:solidFill>
                <a:latin typeface="Space Grotesk"/>
              </a:rPr>
              <a:t>Suporte e produção do instalável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148840"/>
            <a:ext cx="338328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148840"/>
            <a:ext cx="3383280" cy="109728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oz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404872"/>
            <a:ext cx="1152144" cy="1371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482328" y="2368296"/>
            <a:ext cx="1810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7140F"/>
                </a:solidFill>
                <a:latin typeface="Space Grotesk"/>
              </a:rPr>
              <a:t>MOZER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A463C"/>
                </a:solidFill>
                <a:latin typeface="Space Grotesk"/>
              </a:rPr>
              <a:t>Documentação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114800"/>
            <a:ext cx="338328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114800"/>
            <a:ext cx="3383280" cy="109728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gi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370832"/>
            <a:ext cx="1152144" cy="1371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258568" y="4334256"/>
            <a:ext cx="1810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17140F"/>
                </a:solidFill>
                <a:latin typeface="Space Grotesk"/>
              </a:rPr>
              <a:t>GIAN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A463C"/>
                </a:solidFill>
                <a:latin typeface="Space Grotesk"/>
              </a:rPr>
              <a:t>Documentação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4114800"/>
            <a:ext cx="338328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4114800"/>
            <a:ext cx="3383280" cy="109728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jul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4370832"/>
            <a:ext cx="1152144" cy="1371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70448" y="4334256"/>
            <a:ext cx="1810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9FA2"/>
                </a:solidFill>
                <a:latin typeface="Space Grotesk"/>
              </a:rPr>
              <a:t>JULIO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A463C"/>
                </a:solidFill>
                <a:latin typeface="Space Grotesk"/>
              </a:rPr>
              <a:t>Feedback e revisão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4114800"/>
            <a:ext cx="3383280" cy="178308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1000" y="4114800"/>
            <a:ext cx="3383280" cy="109728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rich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880" y="4370832"/>
            <a:ext cx="1152144" cy="1371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482328" y="4334256"/>
            <a:ext cx="1810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B21236"/>
                </a:solidFill>
                <a:latin typeface="Space Grotesk"/>
              </a:rPr>
              <a:t>RICHARD</a:t>
            </a:r>
          </a:p>
          <a:p>
            <a:pPr algn="l">
              <a:spcAft>
                <a:spcPts val="100"/>
              </a:spcAft>
            </a:pPr>
            <a:r>
              <a:rPr sz="1150" b="0" i="0">
                <a:solidFill>
                  <a:srgbClr val="4A463C"/>
                </a:solidFill>
                <a:latin typeface="Space Grotesk"/>
              </a:rPr>
              <a:t>Feedback e revisão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12 / 14</a:t>
            </a:r>
          </a:p>
        </p:txBody>
      </p:sp>
      <p:sp>
        <p:nvSpPr>
          <p:cNvPr id="35" name="Oval 34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EB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>
            <a:off x="11228832" y="5897880"/>
            <a:ext cx="960120" cy="960120"/>
          </a:xfrm>
          <a:prstGeom prst="pie">
            <a:avLst/>
          </a:prstGeom>
          <a:solidFill>
            <a:srgbClr val="EC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7F7EC"/>
                </a:solidFill>
                <a:latin typeface="Space Grotesk"/>
              </a:rPr>
              <a:t>RESULTADO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4000" b="1" i="0">
                <a:solidFill>
                  <a:srgbClr val="17140F"/>
                </a:solidFill>
                <a:latin typeface="Space Grotesk"/>
              </a:rPr>
              <a:t>De protótipo a</a:t>
            </a:r>
          </a:p>
          <a:p>
            <a:pPr algn="l">
              <a:spcAft>
                <a:spcPts val="100"/>
              </a:spcAft>
            </a:pPr>
            <a:r>
              <a:rPr sz="4000" b="1" i="0">
                <a:solidFill>
                  <a:srgbClr val="B21236"/>
                </a:solidFill>
                <a:latin typeface="Space Grotesk"/>
              </a:rPr>
              <a:t>sistema entregue.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83280"/>
            <a:ext cx="2542032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383280"/>
            <a:ext cx="2542032" cy="128016"/>
          </a:xfrm>
          <a:prstGeom prst="rect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25420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17140F"/>
                </a:solidFill>
                <a:latin typeface="Playfair Display"/>
              </a:rPr>
              <a:t>&lt; 1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46320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463C"/>
                </a:solidFill>
                <a:latin typeface="Space Grotesk"/>
              </a:rPr>
              <a:t>para identificar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872" y="3383280"/>
            <a:ext cx="2542032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47872" y="3383280"/>
            <a:ext cx="2542032" cy="128016"/>
          </a:xfrm>
          <a:prstGeom prst="rect">
            <a:avLst/>
          </a:prstGeom>
          <a:solidFill>
            <a:srgbClr val="B21236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3703320"/>
            <a:ext cx="25420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17140F"/>
                </a:solidFill>
                <a:latin typeface="Playfair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4846320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463C"/>
                </a:solidFill>
                <a:latin typeface="Space Grotesk"/>
              </a:rPr>
              <a:t>níveis de acesso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4" y="3383280"/>
            <a:ext cx="2542032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3383280"/>
            <a:ext cx="2542032" cy="128016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3703320"/>
            <a:ext cx="25420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17140F"/>
                </a:solidFill>
                <a:latin typeface="Playfair Display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4" y="4846320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463C"/>
                </a:solidFill>
                <a:latin typeface="Space Grotesk"/>
              </a:rPr>
              <a:t>módulos do app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696" y="3383280"/>
            <a:ext cx="2542032" cy="2103120"/>
          </a:xfrm>
          <a:prstGeom prst="rect">
            <a:avLst/>
          </a:prstGeom>
          <a:solidFill>
            <a:srgbClr val="FFFFFF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3383280"/>
            <a:ext cx="2542032" cy="128016"/>
          </a:xfrm>
          <a:prstGeom prst="rect">
            <a:avLst/>
          </a:prstGeom>
          <a:solidFill>
            <a:srgbClr val="F0381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7696" y="3703320"/>
            <a:ext cx="254203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400" b="1" i="0">
                <a:solidFill>
                  <a:srgbClr val="17140F"/>
                </a:solidFill>
                <a:latin typeface="Playfair Display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4846320"/>
            <a:ext cx="254203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463C"/>
                </a:solidFill>
                <a:latin typeface="Space Grotesk"/>
              </a:rPr>
              <a:t>entregue e publicado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13 / 14</a:t>
            </a:r>
          </a:p>
        </p:txBody>
      </p:sp>
      <p:sp>
        <p:nvSpPr>
          <p:cNvPr id="27" name="Oval 26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>
            <a:off x="0" y="0"/>
            <a:ext cx="2011680" cy="2011680"/>
          </a:xfrm>
          <a:prstGeom prst="pie">
            <a:avLst/>
          </a:prstGeom>
          <a:solidFill>
            <a:srgbClr val="2C9FA2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457200"/>
            <a:ext cx="1554480" cy="1554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EB914"/>
          </a:solidFill>
          <a:ln w="31750">
            <a:solidFill>
              <a:srgbClr val="171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301752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055096" y="301752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228832" y="301752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02568" y="301752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6304" y="301752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750040" y="301752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81360" y="319125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55096" y="319125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228832" y="319125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402568" y="319125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6304" y="319125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750040" y="319125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81360" y="336499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55096" y="336499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228832" y="336499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02568" y="336499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76304" y="336499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750040" y="336499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81360" y="353872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55096" y="353872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228832" y="353872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02568" y="353872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76304" y="353872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750040" y="3538728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2926080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3072384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" y="3218688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3364992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3511296"/>
            <a:ext cx="566928" cy="32004"/>
          </a:xfrm>
          <a:prstGeom prst="rect">
            <a:avLst/>
          </a:prstGeom>
          <a:solidFill>
            <a:srgbClr val="171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1325880"/>
            <a:ext cx="106070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200" b="1" i="0">
                <a:solidFill>
                  <a:srgbClr val="17140F"/>
                </a:solidFill>
                <a:latin typeface="Playfair Display"/>
              </a:rPr>
              <a:t>Obrigado!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274320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 i="1">
                <a:solidFill>
                  <a:srgbClr val="4A463C"/>
                </a:solidFill>
                <a:latin typeface="Space Grotesk"/>
              </a:rPr>
              <a:t>Perguntas? A portaria responde.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7947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21236"/>
                </a:solidFill>
                <a:latin typeface="Space Grotesk"/>
              </a:rPr>
              <a:t>EQUIPE — TURMA 3CDS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17140F"/>
                </a:solidFill>
                <a:latin typeface="Space Grotesk"/>
              </a:rPr>
              <a:t>Gian  ·  Julio  ·  Mozer  ·  Raul  ·  Richard  ·  Vicente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4A463C"/>
                </a:solidFill>
                <a:latin typeface="Space Grotesk"/>
              </a:rPr>
              <a:t>github.com/vicentexk/EYE_GATE  ·  vicentexk.github.io/EYE_GATE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607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7140F"/>
                </a:solidFill>
                <a:latin typeface="Space Grotesk"/>
              </a:rPr>
              <a:t>eye gate — © 2026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55664"/>
            <a:ext cx="11183112" cy="20320"/>
          </a:xfrm>
          <a:prstGeom prst="rect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eye gate — TCC 2026 · Turma 3CDS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61320" y="6528816"/>
            <a:ext cx="1124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8B8677"/>
                </a:solidFill>
                <a:latin typeface="Space Grotesk"/>
              </a:rPr>
              <a:t>14 / 14</a:t>
            </a:r>
          </a:p>
        </p:txBody>
      </p:sp>
      <p:sp>
        <p:nvSpPr>
          <p:cNvPr id="44" name="Oval 43"/>
          <p:cNvSpPr/>
          <p:nvPr/>
        </p:nvSpPr>
        <p:spPr>
          <a:xfrm>
            <a:off x="11356848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530584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704320" y="457200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356848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530584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704320" y="630936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1356848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530584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704320" y="804672"/>
            <a:ext cx="54864" cy="54864"/>
          </a:xfrm>
          <a:prstGeom prst="ellipse">
            <a:avLst/>
          </a:prstGeom>
          <a:solidFill>
            <a:srgbClr val="8B8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="http://schemas.openxmlformats.org/presentationml/2006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